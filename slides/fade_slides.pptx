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98" r:id="rId5"/>
    <p:sldMasterId id="2147483699" r:id="rId6"/>
    <p:sldMasterId id="2147483700" r:id="rId7"/>
    <p:sldMasterId id="2147483701" r:id="rId8"/>
  </p:sldMasterIdLst>
  <p:notesMasterIdLst>
    <p:notesMasterId r:id="rId9"/>
  </p:notesMasterIdLst>
  <p:sldIdLst>
    <p:sldId id="347" r:id="rId101"/>
    <p:sldId id="348" r:id="rId102"/>
    <p:sldId id="349" r:id="rId1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15D50B-BA89-432E-B563-3C9813CA41D1}">
  <a:tblStyle styleId="{9F15D50B-BA89-432E-B563-3C9813CA41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09B0FFB-552B-469D-98C5-EE626D7E7DD4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6" name="Shape 2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7" name="Google Shape;2587;h1799189d6816f1e5_1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Title slide.</a:t>
            </a:r>
          </a:p>
        </p:txBody>
      </p:sp>
      <p:sp>
        <p:nvSpPr>
          <p:cNvPr id="2588" name="Google Shape;2588;h1799189d6816f1e5_1_20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h1799189d6816f1e5_1_2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Reasoning models think for tens of thousands of tokens. New models like Qwen3.5 and Kimi Linear are hybrids: most layers are linear recurrences with a fixed-size state, and a few attention layers keep exact recall. In Qwen3.5 it is three Gated DeltaNet layers, then one full-attention layer, repeated eight times. The DeltaNet layers keep a fixed state, 49 megabytes. The eight attention layers keep every token's keys and values, so at 32K tokens that cache is a gigabyte, 95 percent of the memory. That cache is what Fade targets. Our earlier project tried forgetting: keep only the prompt and recent tokens. Accuracy fell 40 points, and every attention head turned out to read far back. So Fade keeps everything, but blurs it: the prompt and the last 2K tokens stay exact, and older keys and values are stored at 2 or 4 bits. No training, and the DeltaNet layers are untouched.</a:t>
            </a:r>
          </a:p>
        </p:txBody>
      </p:sp>
      <p:sp>
        <p:nvSpPr>
          <p:cNvPr id="2602" name="Google Shape;2602;h1799189d6816f1e5_1_20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h1799189d6816f1e5_1_2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On 120 competition math problems, pre-registered: full attention gets 66 percent. Four-bit Fade also gets 66, with no detectable loss, at 37 percent of the memory. Forgetting, the grey line, falls fast as the window shrinks. Two-bit Fade beats an 8K window that keeps the prompt by about 4 points with 30 percent less memory, a modest gain, and all of it comes from one of our two seed pairs. StreamingLLM-8K, the standard way to cap the cache, drops the prompt too: it gets 12.5 percent on two samples per problem, and 2-bit Fade beats it by 49 points with less memory. When 2-bit Fade fails, it is not wrong answers; runs just hit the token limit. The memory on the chart is computed, and a benchmark with real packed 2- and 4-bit storage agrees within 10 percent; our prototype is slower than full attention, so no speed claim. Next: a fused low-bit kernel for speed, training to close the 2-bit gap, comparisons with more baselines such as R-KV and KVQuant, and more models and tasks. So: don't forget. Fade.</a:t>
            </a:r>
          </a:p>
        </p:txBody>
      </p:sp>
      <p:sp>
        <p:nvSpPr>
          <p:cNvPr id="2629" name="Google Shape;2629;h1799189d6816f1e5_1_2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STAR_CONTENT">
  <p:cSld name="GSTAR_CONTENT"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private/tmp/claude-501/-Users-phunghuy-code-gstar/a1fcb2a4-ae79-48f6-b6e8-350e5f8c37f0/scratchpad/tpl_unz/ppt/media/image8.png" id="126" name="Google Shape;126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7472" y="164592"/>
            <a:ext cx="1188720" cy="41605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/>
          <p:nvPr/>
        </p:nvSpPr>
        <p:spPr>
          <a:xfrm>
            <a:off x="365760" y="4773168"/>
            <a:ext cx="768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728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rPr>
              <a:t>All models: 140M parameters · same 200M training tokens (FineWeb-Edu + CodeParrot Python) · 4K context · trained on H100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321040" y="4773168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A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2" name="Google Shape;142;p2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4" name="Google Shape;144;p2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0" name="Google Shape;150;p2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3" name="Google Shape;153;p30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61" name="Google Shape;161;p3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7" name="Google Shape;167;p32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68" name="Google Shape;168;p32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69" name="Google Shape;169;p32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70" name="Google Shape;170;p3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1" name="Google Shape;171;p3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5" name="Google Shape;175;p3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81" name="Google Shape;181;p34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2" name="Google Shape;182;p3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87" name="Google Shape;187;p35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89" name="Google Shape;189;p3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1" name="Google Shape;191;p3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7" name="Google Shape;197;p3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7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0" name="Google Shape;200;p37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01" name="Google Shape;201;p3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2" name="Google Shape;202;p3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7" name="Google Shape;20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OBJECT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ctrTitle"/>
          </p:nvPr>
        </p:nvSpPr>
        <p:spPr>
          <a:xfrm>
            <a:off x="151137" y="368978"/>
            <a:ext cx="37785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A8003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0" name="Google Shape;210;p39"/>
          <p:cNvSpPr txBox="1"/>
          <p:nvPr>
            <p:ph idx="1" type="subTitle"/>
          </p:nvPr>
        </p:nvSpPr>
        <p:spPr>
          <a:xfrm>
            <a:off x="1371600" y="2880360"/>
            <a:ext cx="64011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9"/>
          <p:cNvSpPr txBox="1"/>
          <p:nvPr>
            <p:ph idx="11" type="ftr"/>
          </p:nvPr>
        </p:nvSpPr>
        <p:spPr>
          <a:xfrm>
            <a:off x="544531" y="4923423"/>
            <a:ext cx="11952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000">
                <a:solidFill>
                  <a:srgbClr val="DFDFD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2" name="Google Shape;212;p39"/>
          <p:cNvSpPr txBox="1"/>
          <p:nvPr>
            <p:ph idx="10" type="dt"/>
          </p:nvPr>
        </p:nvSpPr>
        <p:spPr>
          <a:xfrm>
            <a:off x="7374112" y="4923423"/>
            <a:ext cx="1113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3" name="Google Shape;213;p39"/>
          <p:cNvSpPr txBox="1"/>
          <p:nvPr>
            <p:ph idx="12" type="sldNum"/>
          </p:nvPr>
        </p:nvSpPr>
        <p:spPr>
          <a:xfrm>
            <a:off x="8690436" y="4923423"/>
            <a:ext cx="35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35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2</a:t>
            </a:r>
            <a:endParaRPr sz="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151137" y="368978"/>
            <a:ext cx="2510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200">
                <a:solidFill>
                  <a:srgbClr val="A8003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457200" y="1183004"/>
            <a:ext cx="82296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7" name="Google Shape;217;p40"/>
          <p:cNvSpPr txBox="1"/>
          <p:nvPr>
            <p:ph idx="11" type="ftr"/>
          </p:nvPr>
        </p:nvSpPr>
        <p:spPr>
          <a:xfrm>
            <a:off x="544531" y="4923423"/>
            <a:ext cx="11952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000">
                <a:solidFill>
                  <a:srgbClr val="DFDFD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8" name="Google Shape;218;p40"/>
          <p:cNvSpPr txBox="1"/>
          <p:nvPr>
            <p:ph idx="10" type="dt"/>
          </p:nvPr>
        </p:nvSpPr>
        <p:spPr>
          <a:xfrm>
            <a:off x="7374112" y="4923423"/>
            <a:ext cx="11139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19" name="Google Shape;219;p40"/>
          <p:cNvSpPr txBox="1"/>
          <p:nvPr>
            <p:ph idx="12" type="sldNum"/>
          </p:nvPr>
        </p:nvSpPr>
        <p:spPr>
          <a:xfrm>
            <a:off x="8690436" y="4923423"/>
            <a:ext cx="35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635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635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r>
              <a:rPr lang="en"/>
              <a:t> / 2</a:t>
            </a:r>
            <a:endParaRPr sz="6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4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4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6" name="Google Shape;236;p4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7" name="Google Shape;237;p4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5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0" name="Google Shape;240;p4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1" name="Google Shape;241;p4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2" name="Google Shape;242;p4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3" name="Google Shape;243;p4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6" name="Google Shape;246;p4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47" name="Google Shape;247;p4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8" name="Google Shape;248;p4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49" name="Google Shape;249;p4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7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2" name="Google Shape;252;p47"/>
          <p:cNvSpPr txBox="1"/>
          <p:nvPr>
            <p:ph idx="1" type="body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3" name="Google Shape;253;p4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4" name="Google Shape;254;p4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8" name="Google Shape;258;p48"/>
          <p:cNvSpPr txBox="1"/>
          <p:nvPr>
            <p:ph idx="1" type="body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259" name="Google Shape;259;p48"/>
          <p:cNvSpPr txBox="1"/>
          <p:nvPr>
            <p:ph idx="2" type="body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260" name="Google Shape;260;p4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1" name="Google Shape;261;p4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2" name="Google Shape;262;p4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5" name="Google Shape;265;p49"/>
          <p:cNvSpPr txBox="1"/>
          <p:nvPr>
            <p:ph idx="1" type="body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266" name="Google Shape;266;p49"/>
          <p:cNvSpPr txBox="1"/>
          <p:nvPr>
            <p:ph idx="2" type="body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267" name="Google Shape;267;p49"/>
          <p:cNvSpPr txBox="1"/>
          <p:nvPr>
            <p:ph idx="3" type="body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268" name="Google Shape;268;p49"/>
          <p:cNvSpPr txBox="1"/>
          <p:nvPr>
            <p:ph idx="4" type="body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269" name="Google Shape;269;p4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0" name="Google Shape;270;p4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1" name="Google Shape;271;p4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4" name="Google Shape;274;p5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5" name="Google Shape;275;p5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6" name="Google Shape;276;p5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79" name="Google Shape;279;p51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280" name="Google Shape;280;p51"/>
          <p:cNvSpPr txBox="1"/>
          <p:nvPr>
            <p:ph idx="2" type="body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281" name="Google Shape;281;p5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3" name="Google Shape;283;p5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2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6" name="Google Shape;286;p5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52"/>
          <p:cNvSpPr txBox="1"/>
          <p:nvPr>
            <p:ph idx="1" type="body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288" name="Google Shape;288;p5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89" name="Google Shape;289;p5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0" name="Google Shape;290;p5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3" name="Google Shape;293;p53"/>
          <p:cNvSpPr txBox="1"/>
          <p:nvPr>
            <p:ph idx="1" type="body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94" name="Google Shape;294;p5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5" name="Google Shape;295;p5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6" name="Google Shape;296;p5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4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9" name="Google Shape;299;p54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300" name="Google Shape;300;p5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1" name="Google Shape;301;p5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02" name="Google Shape;302;p5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1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9.xml"/><Relationship Id="rId17" Type="http://schemas.openxmlformats.org/officeDocument/2006/relationships/theme" Target="../theme/theme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7.xml"/><Relationship Id="rId9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2" name="Google Shape;132;p2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3" name="Google Shape;133;p2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4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4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4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4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9" name="Shape 2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90" name="Google Shape;2590;p146"/>
          <p:cNvGrpSpPr/>
          <p:nvPr/>
        </p:nvGrpSpPr>
        <p:grpSpPr>
          <a:xfrm>
            <a:off x="-23800" y="-2869774"/>
            <a:ext cx="9191483" cy="8013146"/>
            <a:chOff x="0" y="-38100"/>
            <a:chExt cx="9683400" cy="8442000"/>
          </a:xfrm>
        </p:grpSpPr>
        <p:sp>
          <p:nvSpPr>
            <p:cNvPr id="2591" name="Google Shape;2591;p146"/>
            <p:cNvSpPr/>
            <p:nvPr/>
          </p:nvSpPr>
          <p:spPr>
            <a:xfrm>
              <a:off x="0" y="0"/>
              <a:ext cx="9683333" cy="8403868"/>
            </a:xfrm>
            <a:custGeom>
              <a:rect b="b" l="l" r="r" t="t"/>
              <a:pathLst>
                <a:path extrusionOk="0" h="8403868" w="9683333">
                  <a:moveTo>
                    <a:pt x="0" y="0"/>
                  </a:moveTo>
                  <a:lnTo>
                    <a:pt x="9683333" y="0"/>
                  </a:lnTo>
                  <a:lnTo>
                    <a:pt x="9683333" y="8403868"/>
                  </a:lnTo>
                  <a:lnTo>
                    <a:pt x="0" y="8403868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</p:sp>
        <p:sp>
          <p:nvSpPr>
            <p:cNvPr id="2592" name="Google Shape;2592;p146"/>
            <p:cNvSpPr txBox="1"/>
            <p:nvPr/>
          </p:nvSpPr>
          <p:spPr>
            <a:xfrm>
              <a:off x="0" y="-38100"/>
              <a:ext cx="9683400" cy="844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8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3" name="Google Shape;2593;p146"/>
          <p:cNvSpPr/>
          <p:nvPr/>
        </p:nvSpPr>
        <p:spPr>
          <a:xfrm>
            <a:off x="23800" y="0"/>
            <a:ext cx="9144000" cy="5186745"/>
          </a:xfrm>
          <a:custGeom>
            <a:rect b="b" l="l" r="r" t="t"/>
            <a:pathLst>
              <a:path extrusionOk="0" h="10373489" w="18288000">
                <a:moveTo>
                  <a:pt x="0" y="0"/>
                </a:moveTo>
                <a:lnTo>
                  <a:pt x="18288000" y="0"/>
                </a:lnTo>
                <a:lnTo>
                  <a:pt x="18288000" y="10373489"/>
                </a:lnTo>
                <a:lnTo>
                  <a:pt x="0" y="10373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490" l="0" r="-19610" t="-28051"/>
            </a:stretch>
          </a:blipFill>
          <a:ln>
            <a:noFill/>
          </a:ln>
        </p:spPr>
      </p:sp>
      <p:sp>
        <p:nvSpPr>
          <p:cNvPr id="2594" name="Google Shape;2594;p146"/>
          <p:cNvSpPr txBox="1"/>
          <p:nvPr/>
        </p:nvSpPr>
        <p:spPr>
          <a:xfrm>
            <a:off x="514350" y="1347696"/>
            <a:ext cx="414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GStar Bootcamp</a:t>
            </a:r>
            <a:endParaRPr sz="700"/>
          </a:p>
        </p:txBody>
      </p:sp>
      <p:sp>
        <p:nvSpPr>
          <p:cNvPr id="2595" name="Google Shape;2595;p146"/>
          <p:cNvSpPr txBox="1"/>
          <p:nvPr/>
        </p:nvSpPr>
        <p:spPr>
          <a:xfrm>
            <a:off x="514350" y="4295284"/>
            <a:ext cx="1271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Student</a:t>
            </a:r>
            <a:r>
              <a:rPr b="0" i="0" lang="en" sz="210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endParaRPr sz="700"/>
          </a:p>
        </p:txBody>
      </p:sp>
      <p:sp>
        <p:nvSpPr>
          <p:cNvPr id="2596" name="Google Shape;2596;p146"/>
          <p:cNvSpPr txBox="1"/>
          <p:nvPr/>
        </p:nvSpPr>
        <p:spPr>
          <a:xfrm>
            <a:off x="1785295" y="4295275"/>
            <a:ext cx="379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Vu Hai An</a:t>
            </a:r>
            <a:endParaRPr sz="700"/>
          </a:p>
        </p:txBody>
      </p:sp>
      <p:sp>
        <p:nvSpPr>
          <p:cNvPr id="2597" name="Google Shape;2597;p146"/>
          <p:cNvSpPr txBox="1"/>
          <p:nvPr/>
        </p:nvSpPr>
        <p:spPr>
          <a:xfrm>
            <a:off x="514350" y="1817329"/>
            <a:ext cx="8081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200" u="none" cap="none" strike="noStrike">
                <a:solidFill>
                  <a:srgbClr val="FFFFFF"/>
                </a:solidFill>
                <a:latin typeface="Lexend SemiBold"/>
                <a:ea typeface="Lexend SemiBold"/>
                <a:cs typeface="Lexend SemiBold"/>
                <a:sym typeface="Lexend SemiBold"/>
              </a:rPr>
              <a:t>Fade, Don't Forget</a:t>
            </a:r>
            <a:endParaRPr sz="700"/>
          </a:p>
          <a:p>
            <a:pPr indent="0" lvl="0" marL="0" marR="0" rtl="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" sz="2200" u="none" cap="none" strike="noStrike">
                <a:solidFill>
                  <a:srgbClr val="FFFFFF"/>
                </a:solidFill>
                <a:latin typeface="Lexend"/>
                <a:ea typeface="Lexend SemiBold"/>
                <a:cs typeface="Lexend SemiBold"/>
                <a:sym typeface="Lexend SemiBold"/>
              </a:rPr>
              <a:t>Low-bit attention memory for hybrid reasoning models</a:t>
            </a:r>
            <a:endParaRPr sz="700"/>
          </a:p>
        </p:txBody>
      </p:sp>
      <p:sp>
        <p:nvSpPr>
          <p:cNvPr id="2598" name="Google Shape;2598;p146"/>
          <p:cNvSpPr/>
          <p:nvPr/>
        </p:nvSpPr>
        <p:spPr>
          <a:xfrm>
            <a:off x="314943" y="248110"/>
            <a:ext cx="793731" cy="873023"/>
          </a:xfrm>
          <a:custGeom>
            <a:rect b="b" l="l" r="r" t="t"/>
            <a:pathLst>
              <a:path extrusionOk="0" h="1746045" w="1587462">
                <a:moveTo>
                  <a:pt x="0" y="0"/>
                </a:moveTo>
                <a:lnTo>
                  <a:pt x="1587462" y="0"/>
                </a:lnTo>
                <a:lnTo>
                  <a:pt x="1587462" y="1746045"/>
                </a:lnTo>
                <a:lnTo>
                  <a:pt x="0" y="1746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599" name="Google Shape;2599;p146"/>
          <p:cNvCxnSpPr/>
          <p:nvPr/>
        </p:nvCxnSpPr>
        <p:spPr>
          <a:xfrm>
            <a:off x="514350" y="4117705"/>
            <a:ext cx="81153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3" name="Shape 2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4" name="Google Shape;2604;p147"/>
          <p:cNvGrpSpPr/>
          <p:nvPr/>
        </p:nvGrpSpPr>
        <p:grpSpPr>
          <a:xfrm>
            <a:off x="-3843" y="4843293"/>
            <a:ext cx="9148144" cy="329769"/>
            <a:chOff x="0" y="-38100"/>
            <a:chExt cx="4818617" cy="173700"/>
          </a:xfrm>
        </p:grpSpPr>
        <p:sp>
          <p:nvSpPr>
            <p:cNvPr id="2605" name="Google Shape;2605;p147"/>
            <p:cNvSpPr/>
            <p:nvPr/>
          </p:nvSpPr>
          <p:spPr>
            <a:xfrm>
              <a:off x="0" y="0"/>
              <a:ext cx="4818617" cy="135460"/>
            </a:xfrm>
            <a:custGeom>
              <a:rect b="b" l="l" r="r" t="t"/>
              <a:pathLst>
                <a:path extrusionOk="0" h="135460" w="4818617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</p:sp>
        <p:sp>
          <p:nvSpPr>
            <p:cNvPr id="2606" name="Google Shape;2606;p147"/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07" name="Google Shape;2607;p147"/>
          <p:cNvSpPr/>
          <p:nvPr/>
        </p:nvSpPr>
        <p:spPr>
          <a:xfrm>
            <a:off x="8866284" y="4924014"/>
            <a:ext cx="278004" cy="193288"/>
          </a:xfrm>
          <a:custGeom>
            <a:rect b="b" l="l" r="r" t="t"/>
            <a:pathLst>
              <a:path extrusionOk="0" h="386575" w="556008">
                <a:moveTo>
                  <a:pt x="0" y="0"/>
                </a:moveTo>
                <a:lnTo>
                  <a:pt x="556008" y="0"/>
                </a:lnTo>
                <a:lnTo>
                  <a:pt x="556008" y="386575"/>
                </a:lnTo>
                <a:lnTo>
                  <a:pt x="0" y="386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62090" l="0" r="-2460" t="0"/>
            </a:stretch>
          </a:blipFill>
          <a:ln>
            <a:noFill/>
          </a:ln>
        </p:spPr>
      </p:sp>
      <p:sp>
        <p:nvSpPr>
          <p:cNvPr id="2608" name="Google Shape;2608;p147"/>
          <p:cNvSpPr/>
          <p:nvPr/>
        </p:nvSpPr>
        <p:spPr>
          <a:xfrm>
            <a:off x="-68507" y="-65018"/>
            <a:ext cx="305766" cy="801037"/>
          </a:xfrm>
          <a:custGeom>
            <a:rect b="b" l="l" r="r" t="t"/>
            <a:pathLst>
              <a:path extrusionOk="0" h="1602073" w="611532">
                <a:moveTo>
                  <a:pt x="0" y="0"/>
                </a:moveTo>
                <a:lnTo>
                  <a:pt x="611532" y="0"/>
                </a:lnTo>
                <a:lnTo>
                  <a:pt x="611532" y="1602072"/>
                </a:lnTo>
                <a:lnTo>
                  <a:pt x="0" y="16020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6" name="Google Shape;2616;p147"/>
          <p:cNvSpPr/>
          <p:nvPr/>
        </p:nvSpPr>
        <p:spPr>
          <a:xfrm>
            <a:off x="336090" y="310922"/>
            <a:ext cx="1395042" cy="334339"/>
          </a:xfrm>
          <a:custGeom>
            <a:rect b="b" l="l" r="r" t="t"/>
            <a:pathLst>
              <a:path extrusionOk="0" h="668677" w="2790084">
                <a:moveTo>
                  <a:pt x="0" y="0"/>
                </a:moveTo>
                <a:lnTo>
                  <a:pt x="2790085" y="0"/>
                </a:lnTo>
                <a:lnTo>
                  <a:pt x="2790085" y="668677"/>
                </a:lnTo>
                <a:lnTo>
                  <a:pt x="0" y="66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33030" l="-14020" r="-11110" t="-49769"/>
            </a:stretch>
          </a:blipFill>
          <a:ln>
            <a:noFill/>
          </a:ln>
        </p:spPr>
      </p:sp>
      <p:sp>
        <p:nvSpPr>
          <p:cNvPr id="2617" name="Google Shape;2617;p147"/>
          <p:cNvSpPr/>
          <p:nvPr/>
        </p:nvSpPr>
        <p:spPr>
          <a:xfrm>
            <a:off x="336090" y="310922"/>
            <a:ext cx="1395042" cy="334339"/>
          </a:xfrm>
          <a:custGeom>
            <a:rect b="b" l="l" r="r" t="t"/>
            <a:pathLst>
              <a:path extrusionOk="0" h="668677" w="2790084">
                <a:moveTo>
                  <a:pt x="0" y="0"/>
                </a:moveTo>
                <a:lnTo>
                  <a:pt x="2790085" y="0"/>
                </a:lnTo>
                <a:lnTo>
                  <a:pt x="2790085" y="668677"/>
                </a:lnTo>
                <a:lnTo>
                  <a:pt x="0" y="66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18" name="title"/>
          <p:cNvSpPr txBox="1"/>
          <p:nvPr/>
        </p:nvSpPr>
        <p:spPr>
          <a:xfrm>
            <a:off x="822960" y="603504"/>
            <a:ext cx="7498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31114"/>
                </a:solidFill>
                <a:latin typeface="Lexend SemiBold"/>
              </a:rPr>
              <a:t>Approach: blur old thoughts, don't delete them</a:t>
            </a:r>
          </a:p>
        </p:txBody>
      </p:sp>
      <p:sp>
        <p:nvSpPr>
          <p:cNvPr id="2619" name="divider"/>
          <p:cNvSpPr/>
          <p:nvPr/>
        </p:nvSpPr>
        <p:spPr>
          <a:xfrm>
            <a:off x="4535424" y="1188720"/>
            <a:ext cx="10972" cy="338328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0" name="problem title"/>
          <p:cNvSpPr txBox="1"/>
          <p:nvPr/>
        </p:nvSpPr>
        <p:spPr>
          <a:xfrm>
            <a:off x="457200" y="1115568"/>
            <a:ext cx="397763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8141B"/>
                </a:solidFill>
                <a:latin typeface="Lexend SemiBold"/>
              </a:rPr>
              <a:t>Problem: the attention cache grows</a:t>
            </a:r>
          </a:p>
        </p:txBody>
      </p:sp>
      <p:sp>
        <p:nvSpPr>
          <p:cNvPr id="2621" name="hybrid note"/>
          <p:cNvSpPr txBox="1"/>
          <p:nvPr/>
        </p:nvSpPr>
        <p:spPr>
          <a:xfrm>
            <a:off x="457200" y="1399032"/>
            <a:ext cx="3977639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Hybrid LLMs (Qwen3.5, Kimi Linear): mostly linear layers with a fixed-size state, plus a few attention layers for exact recall.</a:t>
            </a:r>
          </a:p>
        </p:txBody>
      </p:sp>
      <p:sp>
        <p:nvSpPr>
          <p:cNvPr id="2622" name="strip label"/>
          <p:cNvSpPr txBox="1"/>
          <p:nvPr/>
        </p:nvSpPr>
        <p:spPr>
          <a:xfrm>
            <a:off x="466344" y="1819656"/>
            <a:ext cx="2377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Lexend SemiBold"/>
              </a:rPr>
              <a:t>Qwen3.5-9B: 32 layers</a:t>
            </a:r>
          </a:p>
        </p:txBody>
      </p:sp>
      <p:sp>
        <p:nvSpPr>
          <p:cNvPr id="2623" name="strip pattern"/>
          <p:cNvSpPr txBox="1"/>
          <p:nvPr/>
        </p:nvSpPr>
        <p:spPr>
          <a:xfrm>
            <a:off x="2560320" y="1819656"/>
            <a:ext cx="1865376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5F"/>
                </a:solidFill>
                <a:latin typeface="Lexend"/>
              </a:rPr>
              <a:t>pattern 3 : 1, repeated 8×</a:t>
            </a:r>
          </a:p>
        </p:txBody>
      </p:sp>
      <p:sp>
        <p:nvSpPr>
          <p:cNvPr id="2624" name="strip layer 1"/>
          <p:cNvSpPr/>
          <p:nvPr/>
        </p:nvSpPr>
        <p:spPr>
          <a:xfrm>
            <a:off x="502920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5" name="strip layer 2"/>
          <p:cNvSpPr/>
          <p:nvPr/>
        </p:nvSpPr>
        <p:spPr>
          <a:xfrm>
            <a:off x="624363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6" name="strip layer 3"/>
          <p:cNvSpPr/>
          <p:nvPr/>
        </p:nvSpPr>
        <p:spPr>
          <a:xfrm>
            <a:off x="745807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7" name="strip layer 4"/>
          <p:cNvSpPr/>
          <p:nvPr/>
        </p:nvSpPr>
        <p:spPr>
          <a:xfrm>
            <a:off x="867251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8" name="strip layer 5"/>
          <p:cNvSpPr/>
          <p:nvPr/>
        </p:nvSpPr>
        <p:spPr>
          <a:xfrm>
            <a:off x="988695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9" name="strip layer 6"/>
          <p:cNvSpPr/>
          <p:nvPr/>
        </p:nvSpPr>
        <p:spPr>
          <a:xfrm>
            <a:off x="1110138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0" name="strip layer 7"/>
          <p:cNvSpPr/>
          <p:nvPr/>
        </p:nvSpPr>
        <p:spPr>
          <a:xfrm>
            <a:off x="1231582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1" name="strip layer 8"/>
          <p:cNvSpPr/>
          <p:nvPr/>
        </p:nvSpPr>
        <p:spPr>
          <a:xfrm>
            <a:off x="1353026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2" name="strip layer 9"/>
          <p:cNvSpPr/>
          <p:nvPr/>
        </p:nvSpPr>
        <p:spPr>
          <a:xfrm>
            <a:off x="1474470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3" name="strip layer 10"/>
          <p:cNvSpPr/>
          <p:nvPr/>
        </p:nvSpPr>
        <p:spPr>
          <a:xfrm>
            <a:off x="1595913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4" name="strip layer 11"/>
          <p:cNvSpPr/>
          <p:nvPr/>
        </p:nvSpPr>
        <p:spPr>
          <a:xfrm>
            <a:off x="1717357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5" name="strip layer 12"/>
          <p:cNvSpPr/>
          <p:nvPr/>
        </p:nvSpPr>
        <p:spPr>
          <a:xfrm>
            <a:off x="1838801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6" name="strip layer 13"/>
          <p:cNvSpPr/>
          <p:nvPr/>
        </p:nvSpPr>
        <p:spPr>
          <a:xfrm>
            <a:off x="1960244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7" name="strip layer 14"/>
          <p:cNvSpPr/>
          <p:nvPr/>
        </p:nvSpPr>
        <p:spPr>
          <a:xfrm>
            <a:off x="2081688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8" name="strip layer 15"/>
          <p:cNvSpPr/>
          <p:nvPr/>
        </p:nvSpPr>
        <p:spPr>
          <a:xfrm>
            <a:off x="2203132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9" name="strip layer 16"/>
          <p:cNvSpPr/>
          <p:nvPr/>
        </p:nvSpPr>
        <p:spPr>
          <a:xfrm>
            <a:off x="2324576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0" name="strip layer 17"/>
          <p:cNvSpPr/>
          <p:nvPr/>
        </p:nvSpPr>
        <p:spPr>
          <a:xfrm>
            <a:off x="2446020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1" name="strip layer 18"/>
          <p:cNvSpPr/>
          <p:nvPr/>
        </p:nvSpPr>
        <p:spPr>
          <a:xfrm>
            <a:off x="2567463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2" name="strip layer 19"/>
          <p:cNvSpPr/>
          <p:nvPr/>
        </p:nvSpPr>
        <p:spPr>
          <a:xfrm>
            <a:off x="2688907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3" name="strip layer 20"/>
          <p:cNvSpPr/>
          <p:nvPr/>
        </p:nvSpPr>
        <p:spPr>
          <a:xfrm>
            <a:off x="2810351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4" name="strip layer 21"/>
          <p:cNvSpPr/>
          <p:nvPr/>
        </p:nvSpPr>
        <p:spPr>
          <a:xfrm>
            <a:off x="2931795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5" name="strip layer 22"/>
          <p:cNvSpPr/>
          <p:nvPr/>
        </p:nvSpPr>
        <p:spPr>
          <a:xfrm>
            <a:off x="3053238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6" name="strip layer 23"/>
          <p:cNvSpPr/>
          <p:nvPr/>
        </p:nvSpPr>
        <p:spPr>
          <a:xfrm>
            <a:off x="3174682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7" name="strip layer 24"/>
          <p:cNvSpPr/>
          <p:nvPr/>
        </p:nvSpPr>
        <p:spPr>
          <a:xfrm>
            <a:off x="3296126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8" name="strip layer 25"/>
          <p:cNvSpPr/>
          <p:nvPr/>
        </p:nvSpPr>
        <p:spPr>
          <a:xfrm>
            <a:off x="3417570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9" name="strip layer 26"/>
          <p:cNvSpPr/>
          <p:nvPr/>
        </p:nvSpPr>
        <p:spPr>
          <a:xfrm>
            <a:off x="3539013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0" name="strip layer 27"/>
          <p:cNvSpPr/>
          <p:nvPr/>
        </p:nvSpPr>
        <p:spPr>
          <a:xfrm>
            <a:off x="3660457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1" name="strip layer 28"/>
          <p:cNvSpPr/>
          <p:nvPr/>
        </p:nvSpPr>
        <p:spPr>
          <a:xfrm>
            <a:off x="3781901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2" name="strip layer 29"/>
          <p:cNvSpPr/>
          <p:nvPr/>
        </p:nvSpPr>
        <p:spPr>
          <a:xfrm>
            <a:off x="3903345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3" name="strip layer 30"/>
          <p:cNvSpPr/>
          <p:nvPr/>
        </p:nvSpPr>
        <p:spPr>
          <a:xfrm>
            <a:off x="4024788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4" name="strip layer 31"/>
          <p:cNvSpPr/>
          <p:nvPr/>
        </p:nvSpPr>
        <p:spPr>
          <a:xfrm>
            <a:off x="4146232" y="2057400"/>
            <a:ext cx="98583" cy="18288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5" name="strip layer 32"/>
          <p:cNvSpPr/>
          <p:nvPr/>
        </p:nvSpPr>
        <p:spPr>
          <a:xfrm>
            <a:off x="4267676" y="2057400"/>
            <a:ext cx="98583" cy="18288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6" name="zoom source"/>
          <p:cNvSpPr/>
          <p:nvPr/>
        </p:nvSpPr>
        <p:spPr>
          <a:xfrm>
            <a:off x="475488" y="2029968"/>
            <a:ext cx="517779" cy="237744"/>
          </a:xfrm>
          <a:prstGeom prst="rect">
            <a:avLst/>
          </a:prstGeom>
          <a:noFill/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57" name="zoom left"/>
          <p:cNvCxnSpPr/>
          <p:nvPr/>
        </p:nvCxnSpPr>
        <p:spPr>
          <a:xfrm>
            <a:off x="475488" y="2267712"/>
            <a:ext cx="27432" cy="146304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8" name="zoom right"/>
          <p:cNvCxnSpPr/>
          <p:nvPr/>
        </p:nvCxnSpPr>
        <p:spPr>
          <a:xfrm>
            <a:off x="993267" y="2267712"/>
            <a:ext cx="3395853" cy="146304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9" name="block layer 1"/>
          <p:cNvSpPr/>
          <p:nvPr/>
        </p:nvSpPr>
        <p:spPr>
          <a:xfrm>
            <a:off x="502920" y="241401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0" name="block layer 1 text"/>
          <p:cNvSpPr txBox="1"/>
          <p:nvPr/>
        </p:nvSpPr>
        <p:spPr>
          <a:xfrm>
            <a:off x="502920" y="2414016"/>
            <a:ext cx="777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Lexend"/>
              </a:rPr>
              <a:t>Gated DeltaNet</a:t>
            </a:r>
          </a:p>
        </p:txBody>
      </p:sp>
      <p:sp>
        <p:nvSpPr>
          <p:cNvPr id="2661" name="block layer 2"/>
          <p:cNvSpPr/>
          <p:nvPr/>
        </p:nvSpPr>
        <p:spPr>
          <a:xfrm>
            <a:off x="1344168" y="241401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2" name="block layer 2 text"/>
          <p:cNvSpPr txBox="1"/>
          <p:nvPr/>
        </p:nvSpPr>
        <p:spPr>
          <a:xfrm>
            <a:off x="1344168" y="2414016"/>
            <a:ext cx="777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Lexend"/>
              </a:rPr>
              <a:t>Gated DeltaNet</a:t>
            </a:r>
          </a:p>
        </p:txBody>
      </p:sp>
      <p:sp>
        <p:nvSpPr>
          <p:cNvPr id="2663" name="block layer 3"/>
          <p:cNvSpPr/>
          <p:nvPr/>
        </p:nvSpPr>
        <p:spPr>
          <a:xfrm>
            <a:off x="2185415" y="2414016"/>
            <a:ext cx="777240" cy="365760"/>
          </a:xfrm>
          <a:prstGeom prst="roundRect">
            <a:avLst>
              <a:gd name="adj" fmla="val 12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4" name="block layer 3 text"/>
          <p:cNvSpPr txBox="1"/>
          <p:nvPr/>
        </p:nvSpPr>
        <p:spPr>
          <a:xfrm>
            <a:off x="2185415" y="2414016"/>
            <a:ext cx="7772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Lexend"/>
              </a:rPr>
              <a:t>Gated DeltaNet</a:t>
            </a:r>
          </a:p>
        </p:txBody>
      </p:sp>
      <p:sp>
        <p:nvSpPr>
          <p:cNvPr id="2665" name="block layer 4"/>
          <p:cNvSpPr/>
          <p:nvPr/>
        </p:nvSpPr>
        <p:spPr>
          <a:xfrm>
            <a:off x="3026663" y="2414016"/>
            <a:ext cx="1362456" cy="365760"/>
          </a:xfrm>
          <a:prstGeom prst="roundRect">
            <a:avLst>
              <a:gd name="adj" fmla="val 12500"/>
            </a:avLst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6" name="block layer 4 text"/>
          <p:cNvSpPr txBox="1"/>
          <p:nvPr/>
        </p:nvSpPr>
        <p:spPr>
          <a:xfrm>
            <a:off x="3026663" y="2414016"/>
            <a:ext cx="13624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Lexend SemiBold"/>
              </a:rPr>
              <a:t>Full attention</a:t>
            </a:r>
          </a:p>
        </p:txBody>
      </p:sp>
      <p:sp>
        <p:nvSpPr>
          <p:cNvPr id="2667" name="state icon 1"/>
          <p:cNvSpPr/>
          <p:nvPr/>
        </p:nvSpPr>
        <p:spPr>
          <a:xfrm>
            <a:off x="521208" y="2944368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8" name="state icon 2"/>
          <p:cNvSpPr/>
          <p:nvPr/>
        </p:nvSpPr>
        <p:spPr>
          <a:xfrm>
            <a:off x="598932" y="2944368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9" name="state icon 3"/>
          <p:cNvSpPr/>
          <p:nvPr/>
        </p:nvSpPr>
        <p:spPr>
          <a:xfrm>
            <a:off x="676656" y="2944368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0" name="state icon 4"/>
          <p:cNvSpPr/>
          <p:nvPr/>
        </p:nvSpPr>
        <p:spPr>
          <a:xfrm>
            <a:off x="521208" y="3022092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1" name="state icon 5"/>
          <p:cNvSpPr/>
          <p:nvPr/>
        </p:nvSpPr>
        <p:spPr>
          <a:xfrm>
            <a:off x="598932" y="3022092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state icon 6"/>
          <p:cNvSpPr/>
          <p:nvPr/>
        </p:nvSpPr>
        <p:spPr>
          <a:xfrm>
            <a:off x="676656" y="3022092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3" name="state icon 7"/>
          <p:cNvSpPr/>
          <p:nvPr/>
        </p:nvSpPr>
        <p:spPr>
          <a:xfrm>
            <a:off x="521208" y="3099816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4" name="state icon 8"/>
          <p:cNvSpPr/>
          <p:nvPr/>
        </p:nvSpPr>
        <p:spPr>
          <a:xfrm>
            <a:off x="598932" y="3099816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5" name="state icon 9"/>
          <p:cNvSpPr/>
          <p:nvPr/>
        </p:nvSpPr>
        <p:spPr>
          <a:xfrm>
            <a:off x="676656" y="3099816"/>
            <a:ext cx="64008" cy="6400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6" name="gdn note"/>
          <p:cNvSpPr txBox="1"/>
          <p:nvPr/>
        </p:nvSpPr>
        <p:spPr>
          <a:xfrm>
            <a:off x="795528" y="2871216"/>
            <a:ext cx="2167128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Lexend SemiBold"/>
              </a:rPr>
              <a:t>24 layers: fixed-size state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5F"/>
                </a:solidFill>
                <a:latin typeface="Lexend"/>
              </a:rPr>
              <a:t>49 MiB in total, at any length</a:t>
            </a:r>
          </a:p>
        </p:txBody>
      </p:sp>
      <p:sp>
        <p:nvSpPr>
          <p:cNvPr id="2677" name="cache icon 1"/>
          <p:cNvSpPr/>
          <p:nvPr/>
        </p:nvSpPr>
        <p:spPr>
          <a:xfrm>
            <a:off x="3026663" y="3108960"/>
            <a:ext cx="36576" cy="64008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8" name="cache icon 2"/>
          <p:cNvSpPr/>
          <p:nvPr/>
        </p:nvSpPr>
        <p:spPr>
          <a:xfrm>
            <a:off x="3076956" y="3067812"/>
            <a:ext cx="36576" cy="105156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9" name="cache icon 3"/>
          <p:cNvSpPr/>
          <p:nvPr/>
        </p:nvSpPr>
        <p:spPr>
          <a:xfrm>
            <a:off x="3127247" y="3026664"/>
            <a:ext cx="36576" cy="146304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0" name="cache icon 4"/>
          <p:cNvSpPr/>
          <p:nvPr/>
        </p:nvSpPr>
        <p:spPr>
          <a:xfrm>
            <a:off x="3177539" y="2985516"/>
            <a:ext cx="36576" cy="18745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1" name="cache icon 5"/>
          <p:cNvSpPr/>
          <p:nvPr/>
        </p:nvSpPr>
        <p:spPr>
          <a:xfrm>
            <a:off x="3227832" y="2944368"/>
            <a:ext cx="36576" cy="22860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2" name="fa note"/>
          <p:cNvSpPr txBox="1"/>
          <p:nvPr/>
        </p:nvSpPr>
        <p:spPr>
          <a:xfrm>
            <a:off x="3300983" y="2871216"/>
            <a:ext cx="112471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8141B"/>
                </a:solidFill>
                <a:latin typeface="Lexend SemiBold"/>
              </a:rPr>
              <a:t>KV cache grows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5F"/>
                </a:solidFill>
                <a:latin typeface="Lexend"/>
              </a:rPr>
              <a:t>32 KiB / token</a:t>
            </a:r>
          </a:p>
        </p:txBody>
      </p:sp>
      <p:sp>
        <p:nvSpPr>
          <p:cNvPr id="2683" name="memory caption"/>
          <p:cNvSpPr txBox="1"/>
          <p:nvPr/>
        </p:nvSpPr>
        <p:spPr>
          <a:xfrm>
            <a:off x="457200" y="3328416"/>
            <a:ext cx="3977639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Memory per sample at 32K tokens (analytic)</a:t>
            </a:r>
          </a:p>
        </p:txBody>
      </p:sp>
      <p:sp>
        <p:nvSpPr>
          <p:cNvPr id="2684" name="memory attention"/>
          <p:cNvSpPr/>
          <p:nvPr/>
        </p:nvSpPr>
        <p:spPr>
          <a:xfrm>
            <a:off x="502920" y="3566160"/>
            <a:ext cx="2773843" cy="274320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5" name="memory attention text"/>
          <p:cNvSpPr txBox="1"/>
          <p:nvPr/>
        </p:nvSpPr>
        <p:spPr>
          <a:xfrm>
            <a:off x="502920" y="3566160"/>
            <a:ext cx="2773843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Lexend"/>
              </a:rPr>
              <a:t>attention KV: 1 GiB (95%)</a:t>
            </a:r>
          </a:p>
        </p:txBody>
      </p:sp>
      <p:sp>
        <p:nvSpPr>
          <p:cNvPr id="2686" name="memory gdn"/>
          <p:cNvSpPr/>
          <p:nvPr/>
        </p:nvSpPr>
        <p:spPr>
          <a:xfrm>
            <a:off x="3295051" y="3566160"/>
            <a:ext cx="133948" cy="2743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7" name="memory gdn text"/>
          <p:cNvSpPr txBox="1"/>
          <p:nvPr/>
        </p:nvSpPr>
        <p:spPr>
          <a:xfrm>
            <a:off x="3465576" y="3566160"/>
            <a:ext cx="1051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GDN: 49 MiB</a:t>
            </a:r>
          </a:p>
        </p:txBody>
      </p:sp>
      <p:sp>
        <p:nvSpPr>
          <p:cNvPr id="2688" name="fix box"/>
          <p:cNvSpPr/>
          <p:nvPr/>
        </p:nvSpPr>
        <p:spPr>
          <a:xfrm>
            <a:off x="457200" y="4041648"/>
            <a:ext cx="3977639" cy="402336"/>
          </a:xfrm>
          <a:prstGeom prst="roundRect">
            <a:avLst>
              <a:gd name="adj" fmla="val 13636"/>
            </a:avLst>
          </a:prstGeom>
          <a:solidFill>
            <a:srgbClr val="F8E8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9" name="fix text"/>
          <p:cNvSpPr txBox="1"/>
          <p:nvPr/>
        </p:nvSpPr>
        <p:spPr>
          <a:xfrm>
            <a:off x="530352" y="4041648"/>
            <a:ext cx="3831336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8141B"/>
                </a:solidFill>
                <a:latin typeface="Lexend SemiBold"/>
              </a:rPr>
              <a:t>Fade </a:t>
            </a:r>
            <a:r>
              <a:rPr sz="1100" b="0" i="0">
                <a:solidFill>
                  <a:srgbClr val="1A1A1A"/>
                </a:solidFill>
                <a:latin typeface="Lexend"/>
              </a:rPr>
              <a:t>compresses only this cache. No training.</a:t>
            </a:r>
          </a:p>
        </p:txBody>
      </p:sp>
      <p:sp>
        <p:nvSpPr>
          <p:cNvPr id="2690" name="diagram title"/>
          <p:cNvSpPr txBox="1"/>
          <p:nvPr/>
        </p:nvSpPr>
        <p:spPr>
          <a:xfrm>
            <a:off x="4663440" y="1115568"/>
            <a:ext cx="4114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8141B"/>
                </a:solidFill>
                <a:latin typeface="Lexend SemiBold"/>
              </a:rPr>
              <a:t>What attention keeps of a 32K trace</a:t>
            </a:r>
          </a:p>
        </p:txBody>
      </p:sp>
      <p:sp>
        <p:nvSpPr>
          <p:cNvPr id="2691" name="memory header"/>
          <p:cNvSpPr txBox="1"/>
          <p:nvPr/>
        </p:nvSpPr>
        <p:spPr>
          <a:xfrm>
            <a:off x="4663440" y="1408176"/>
            <a:ext cx="4114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analytic memory at 32K</a:t>
            </a:r>
          </a:p>
        </p:txBody>
      </p:sp>
      <p:sp>
        <p:nvSpPr>
          <p:cNvPr id="2692" name="row 1 label"/>
          <p:cNvSpPr txBox="1"/>
          <p:nvPr/>
        </p:nvSpPr>
        <p:spPr>
          <a:xfrm>
            <a:off x="4663440" y="1664208"/>
            <a:ext cx="2651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Full attention</a:t>
            </a:r>
          </a:p>
        </p:txBody>
      </p:sp>
      <p:sp>
        <p:nvSpPr>
          <p:cNvPr id="2693" name="row 1 memory"/>
          <p:cNvSpPr txBox="1"/>
          <p:nvPr/>
        </p:nvSpPr>
        <p:spPr>
          <a:xfrm>
            <a:off x="7187183" y="1664208"/>
            <a:ext cx="159105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1,073 MiB</a:t>
            </a:r>
          </a:p>
        </p:txBody>
      </p:sp>
      <p:sp>
        <p:nvSpPr>
          <p:cNvPr id="2694" name="row 1 segment 1"/>
          <p:cNvSpPr/>
          <p:nvPr/>
        </p:nvSpPr>
        <p:spPr>
          <a:xfrm>
            <a:off x="4700016" y="1929384"/>
            <a:ext cx="288036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5" name="row 1 segment 1 text"/>
          <p:cNvSpPr txBox="1"/>
          <p:nvPr/>
        </p:nvSpPr>
        <p:spPr>
          <a:xfrm>
            <a:off x="4700016" y="1929384"/>
            <a:ext cx="2880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Lexend"/>
              </a:rPr>
              <a:t>P</a:t>
            </a:r>
          </a:p>
        </p:txBody>
      </p:sp>
      <p:sp>
        <p:nvSpPr>
          <p:cNvPr id="2696" name="row 1 segment 2"/>
          <p:cNvSpPr/>
          <p:nvPr/>
        </p:nvSpPr>
        <p:spPr>
          <a:xfrm>
            <a:off x="5010912" y="1929384"/>
            <a:ext cx="3707891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7" name="row 1 segment 2 text"/>
          <p:cNvSpPr txBox="1"/>
          <p:nvPr/>
        </p:nvSpPr>
        <p:spPr>
          <a:xfrm>
            <a:off x="5010912" y="1929384"/>
            <a:ext cx="370789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Lexend"/>
              </a:rPr>
              <a:t>exact (16-bit)</a:t>
            </a:r>
          </a:p>
        </p:txBody>
      </p:sp>
      <p:sp>
        <p:nvSpPr>
          <p:cNvPr id="2698" name="row 2 label"/>
          <p:cNvSpPr txBox="1"/>
          <p:nvPr/>
        </p:nvSpPr>
        <p:spPr>
          <a:xfrm>
            <a:off x="4663440" y="2267712"/>
            <a:ext cx="2651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StreamingLLM-8K</a:t>
            </a:r>
          </a:p>
        </p:txBody>
      </p:sp>
      <p:sp>
        <p:nvSpPr>
          <p:cNvPr id="2699" name="row 2 memory"/>
          <p:cNvSpPr txBox="1"/>
          <p:nvPr/>
        </p:nvSpPr>
        <p:spPr>
          <a:xfrm>
            <a:off x="7187183" y="2267712"/>
            <a:ext cx="159105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305 MiB</a:t>
            </a:r>
          </a:p>
        </p:txBody>
      </p:sp>
      <p:sp>
        <p:nvSpPr>
          <p:cNvPr id="2700" name="row 2 segment 1"/>
          <p:cNvSpPr/>
          <p:nvPr/>
        </p:nvSpPr>
        <p:spPr>
          <a:xfrm>
            <a:off x="4700016" y="2532888"/>
            <a:ext cx="41148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1" name="row 2 segment 2"/>
          <p:cNvSpPr/>
          <p:nvPr/>
        </p:nvSpPr>
        <p:spPr>
          <a:xfrm>
            <a:off x="4764024" y="2532888"/>
            <a:ext cx="3022091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2" name="row 2 segment 2 text"/>
          <p:cNvSpPr txBox="1"/>
          <p:nvPr/>
        </p:nvSpPr>
        <p:spPr>
          <a:xfrm>
            <a:off x="4764024" y="2532888"/>
            <a:ext cx="302209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5F"/>
                </a:solidFill>
                <a:latin typeface="Lexend"/>
              </a:rPr>
              <a:t>dropped, including the prompt</a:t>
            </a:r>
          </a:p>
        </p:txBody>
      </p:sp>
      <p:sp>
        <p:nvSpPr>
          <p:cNvPr id="2703" name="row 2 segment 3"/>
          <p:cNvSpPr/>
          <p:nvPr/>
        </p:nvSpPr>
        <p:spPr>
          <a:xfrm>
            <a:off x="7808975" y="2532888"/>
            <a:ext cx="909828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4" name="row 2 segment 3 text"/>
          <p:cNvSpPr txBox="1"/>
          <p:nvPr/>
        </p:nvSpPr>
        <p:spPr>
          <a:xfrm>
            <a:off x="7808975" y="2532888"/>
            <a:ext cx="90982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Lexend"/>
              </a:rPr>
              <a:t>last 8K</a:t>
            </a:r>
          </a:p>
        </p:txBody>
      </p:sp>
      <p:sp>
        <p:nvSpPr>
          <p:cNvPr id="2705" name="row 3 label"/>
          <p:cNvSpPr txBox="1"/>
          <p:nvPr/>
        </p:nvSpPr>
        <p:spPr>
          <a:xfrm>
            <a:off x="4663440" y="2871216"/>
            <a:ext cx="2651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8K window + prompt</a:t>
            </a:r>
          </a:p>
        </p:txBody>
      </p:sp>
      <p:sp>
        <p:nvSpPr>
          <p:cNvPr id="2706" name="row 3 memory"/>
          <p:cNvSpPr txBox="1"/>
          <p:nvPr/>
        </p:nvSpPr>
        <p:spPr>
          <a:xfrm>
            <a:off x="7187183" y="2871216"/>
            <a:ext cx="159105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1A1A"/>
                </a:solidFill>
                <a:latin typeface="Lexend"/>
              </a:rPr>
              <a:t>305 MiB</a:t>
            </a:r>
          </a:p>
        </p:txBody>
      </p:sp>
      <p:sp>
        <p:nvSpPr>
          <p:cNvPr id="2707" name="row 3 segment 1"/>
          <p:cNvSpPr/>
          <p:nvPr/>
        </p:nvSpPr>
        <p:spPr>
          <a:xfrm>
            <a:off x="4700016" y="3136392"/>
            <a:ext cx="288036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8" name="row 3 segment 1 text"/>
          <p:cNvSpPr txBox="1"/>
          <p:nvPr/>
        </p:nvSpPr>
        <p:spPr>
          <a:xfrm>
            <a:off x="4700016" y="3136392"/>
            <a:ext cx="2880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Lexend"/>
              </a:rPr>
              <a:t>P</a:t>
            </a:r>
          </a:p>
        </p:txBody>
      </p:sp>
      <p:sp>
        <p:nvSpPr>
          <p:cNvPr id="2709" name="row 3 segment 2"/>
          <p:cNvSpPr/>
          <p:nvPr/>
        </p:nvSpPr>
        <p:spPr>
          <a:xfrm>
            <a:off x="5010912" y="3136392"/>
            <a:ext cx="2775204" cy="256032"/>
          </a:xfrm>
          <a:prstGeom prst="rect">
            <a:avLst/>
          </a:prstGeom>
          <a:solidFill>
            <a:srgbClr val="F2F2F2"/>
          </a:solidFill>
          <a:ln w="9525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0" name="row 3 segment 2 text"/>
          <p:cNvSpPr txBox="1"/>
          <p:nvPr/>
        </p:nvSpPr>
        <p:spPr>
          <a:xfrm>
            <a:off x="5010912" y="3136392"/>
            <a:ext cx="27752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F5F5F"/>
                </a:solidFill>
                <a:latin typeface="Lexend"/>
              </a:rPr>
              <a:t>dropped</a:t>
            </a:r>
          </a:p>
        </p:txBody>
      </p:sp>
      <p:sp>
        <p:nvSpPr>
          <p:cNvPr id="2711" name="row 3 segment 3"/>
          <p:cNvSpPr/>
          <p:nvPr/>
        </p:nvSpPr>
        <p:spPr>
          <a:xfrm>
            <a:off x="7808975" y="3136392"/>
            <a:ext cx="909828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2" name="row 3 segment 3 text"/>
          <p:cNvSpPr txBox="1"/>
          <p:nvPr/>
        </p:nvSpPr>
        <p:spPr>
          <a:xfrm>
            <a:off x="7808975" y="3136392"/>
            <a:ext cx="90982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Lexend"/>
              </a:rPr>
              <a:t>last 8K</a:t>
            </a:r>
          </a:p>
        </p:txBody>
      </p:sp>
      <p:sp>
        <p:nvSpPr>
          <p:cNvPr id="2713" name="row 4 label"/>
          <p:cNvSpPr txBox="1"/>
          <p:nvPr/>
        </p:nvSpPr>
        <p:spPr>
          <a:xfrm>
            <a:off x="4663440" y="3474720"/>
            <a:ext cx="265176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8141B"/>
                </a:solidFill>
                <a:latin typeface="Lexend SemiBold"/>
              </a:rPr>
              <a:t>Fade (ours)</a:t>
            </a:r>
          </a:p>
        </p:txBody>
      </p:sp>
      <p:sp>
        <p:nvSpPr>
          <p:cNvPr id="2714" name="row 4 memory"/>
          <p:cNvSpPr txBox="1"/>
          <p:nvPr/>
        </p:nvSpPr>
        <p:spPr>
          <a:xfrm>
            <a:off x="7187183" y="3474720"/>
            <a:ext cx="1591056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8141B"/>
                </a:solidFill>
                <a:latin typeface="Lexend SemiBold"/>
              </a:rPr>
              <a:t>248–368 MiB</a:t>
            </a:r>
          </a:p>
        </p:txBody>
      </p:sp>
      <p:sp>
        <p:nvSpPr>
          <p:cNvPr id="2715" name="row 4 segment 1"/>
          <p:cNvSpPr/>
          <p:nvPr/>
        </p:nvSpPr>
        <p:spPr>
          <a:xfrm>
            <a:off x="4700016" y="3739896"/>
            <a:ext cx="288036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6" name="row 4 segment 1 text"/>
          <p:cNvSpPr txBox="1"/>
          <p:nvPr/>
        </p:nvSpPr>
        <p:spPr>
          <a:xfrm>
            <a:off x="4700016" y="3739896"/>
            <a:ext cx="28803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Lexend"/>
              </a:rPr>
              <a:t>P</a:t>
            </a:r>
          </a:p>
        </p:txBody>
      </p:sp>
      <p:sp>
        <p:nvSpPr>
          <p:cNvPr id="2717" name="row 4 segment 2"/>
          <p:cNvSpPr/>
          <p:nvPr/>
        </p:nvSpPr>
        <p:spPr>
          <a:xfrm>
            <a:off x="5010912" y="3739896"/>
            <a:ext cx="3474720" cy="256032"/>
          </a:xfrm>
          <a:prstGeom prst="rect">
            <a:avLst/>
          </a:prstGeom>
          <a:solidFill>
            <a:srgbClr val="EBC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8" name="row 4 segment 2 text"/>
          <p:cNvSpPr txBox="1"/>
          <p:nvPr/>
        </p:nvSpPr>
        <p:spPr>
          <a:xfrm>
            <a:off x="5010912" y="3739896"/>
            <a:ext cx="3474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8141B"/>
                </a:solidFill>
                <a:latin typeface="Lexend"/>
              </a:rPr>
              <a:t>older tokens at 2–4 bits</a:t>
            </a:r>
          </a:p>
        </p:txBody>
      </p:sp>
      <p:sp>
        <p:nvSpPr>
          <p:cNvPr id="2719" name="row 4 segment 3"/>
          <p:cNvSpPr/>
          <p:nvPr/>
        </p:nvSpPr>
        <p:spPr>
          <a:xfrm>
            <a:off x="8508492" y="3739896"/>
            <a:ext cx="210312" cy="25603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0" name="row 4 segment 3 text"/>
          <p:cNvSpPr txBox="1"/>
          <p:nvPr/>
        </p:nvSpPr>
        <p:spPr>
          <a:xfrm>
            <a:off x="8508492" y="3739896"/>
            <a:ext cx="210312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FFFFFF"/>
                </a:solidFill>
                <a:latin typeface="Lexend"/>
              </a:rPr>
              <a:t>2K</a:t>
            </a:r>
          </a:p>
        </p:txBody>
      </p:sp>
      <p:sp>
        <p:nvSpPr>
          <p:cNvPr id="2721" name="legend exact"/>
          <p:cNvSpPr/>
          <p:nvPr/>
        </p:nvSpPr>
        <p:spPr>
          <a:xfrm>
            <a:off x="4700016" y="4178808"/>
            <a:ext cx="146304" cy="118872"/>
          </a:xfrm>
          <a:prstGeom prst="rect">
            <a:avLst/>
          </a:prstGeom>
          <a:solidFill>
            <a:srgbClr val="78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2" name="legend exact text"/>
          <p:cNvSpPr txBox="1"/>
          <p:nvPr/>
        </p:nvSpPr>
        <p:spPr>
          <a:xfrm>
            <a:off x="4882896" y="4114800"/>
            <a:ext cx="73152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exact</a:t>
            </a:r>
          </a:p>
        </p:txBody>
      </p:sp>
      <p:sp>
        <p:nvSpPr>
          <p:cNvPr id="2723" name="legend low-bit"/>
          <p:cNvSpPr/>
          <p:nvPr/>
        </p:nvSpPr>
        <p:spPr>
          <a:xfrm>
            <a:off x="5568696" y="4178808"/>
            <a:ext cx="146304" cy="118872"/>
          </a:xfrm>
          <a:prstGeom prst="rect">
            <a:avLst/>
          </a:prstGeom>
          <a:solidFill>
            <a:srgbClr val="EBC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4" name="legend low-bit text"/>
          <p:cNvSpPr txBox="1"/>
          <p:nvPr/>
        </p:nvSpPr>
        <p:spPr>
          <a:xfrm>
            <a:off x="5751575" y="4114800"/>
            <a:ext cx="822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2–4 bits</a:t>
            </a:r>
          </a:p>
        </p:txBody>
      </p:sp>
      <p:sp>
        <p:nvSpPr>
          <p:cNvPr id="2725" name="legend dropped"/>
          <p:cNvSpPr/>
          <p:nvPr/>
        </p:nvSpPr>
        <p:spPr>
          <a:xfrm>
            <a:off x="6574536" y="4178808"/>
            <a:ext cx="146304" cy="118872"/>
          </a:xfrm>
          <a:prstGeom prst="rect">
            <a:avLst/>
          </a:prstGeom>
          <a:solidFill>
            <a:srgbClr val="F2F2F2"/>
          </a:solidFill>
          <a:ln w="9525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6" name="legend dropped text"/>
          <p:cNvSpPr txBox="1"/>
          <p:nvPr/>
        </p:nvSpPr>
        <p:spPr>
          <a:xfrm>
            <a:off x="6757416" y="4114800"/>
            <a:ext cx="8229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dropped</a:t>
            </a:r>
          </a:p>
        </p:txBody>
      </p:sp>
      <p:sp>
        <p:nvSpPr>
          <p:cNvPr id="2727" name="legend note"/>
          <p:cNvSpPr txBox="1"/>
          <p:nvPr/>
        </p:nvSpPr>
        <p:spPr>
          <a:xfrm>
            <a:off x="7534656" y="4114800"/>
            <a:ext cx="1243584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F5F5F"/>
                </a:solidFill>
                <a:latin typeface="Lexend"/>
              </a:rPr>
              <a:t>P = prompt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" name="Google Shape;2664;p148"/>
          <p:cNvSpPr/>
          <p:nvPr/>
        </p:nvSpPr>
        <p:spPr>
          <a:xfrm>
            <a:off x="-3842" y="0"/>
            <a:ext cx="177074" cy="664161"/>
          </a:xfrm>
          <a:custGeom>
            <a:rect b="b" l="l" r="r" t="t"/>
            <a:pathLst>
              <a:path extrusionOk="0" h="1328322" w="354147">
                <a:moveTo>
                  <a:pt x="0" y="0"/>
                </a:moveTo>
                <a:lnTo>
                  <a:pt x="354147" y="0"/>
                </a:lnTo>
                <a:lnTo>
                  <a:pt x="354147" y="1328322"/>
                </a:lnTo>
                <a:lnTo>
                  <a:pt x="0" y="1328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5" name="Google Shape;2665;p148"/>
          <p:cNvSpPr/>
          <p:nvPr/>
        </p:nvSpPr>
        <p:spPr>
          <a:xfrm>
            <a:off x="336532" y="311773"/>
            <a:ext cx="1392248" cy="333669"/>
          </a:xfrm>
          <a:custGeom>
            <a:rect b="b" l="l" r="r" t="t"/>
            <a:pathLst>
              <a:path extrusionOk="0" h="667338" w="2784496">
                <a:moveTo>
                  <a:pt x="0" y="0"/>
                </a:moveTo>
                <a:lnTo>
                  <a:pt x="2784496" y="0"/>
                </a:lnTo>
                <a:lnTo>
                  <a:pt x="2784496" y="667338"/>
                </a:lnTo>
                <a:lnTo>
                  <a:pt x="0" y="667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3030" l="-14020" r="-11110" t="-49769"/>
            </a:stretch>
          </a:blipFill>
          <a:ln>
            <a:noFill/>
          </a:ln>
        </p:spPr>
      </p:sp>
      <p:grpSp>
        <p:nvGrpSpPr>
          <p:cNvPr id="2666" name="Google Shape;2666;p148"/>
          <p:cNvGrpSpPr/>
          <p:nvPr/>
        </p:nvGrpSpPr>
        <p:grpSpPr>
          <a:xfrm>
            <a:off x="-3843" y="4843293"/>
            <a:ext cx="9148144" cy="329769"/>
            <a:chOff x="0" y="-38100"/>
            <a:chExt cx="4818617" cy="173700"/>
          </a:xfrm>
        </p:grpSpPr>
        <p:sp>
          <p:nvSpPr>
            <p:cNvPr id="2667" name="Google Shape;2667;p148"/>
            <p:cNvSpPr/>
            <p:nvPr/>
          </p:nvSpPr>
          <p:spPr>
            <a:xfrm>
              <a:off x="0" y="0"/>
              <a:ext cx="4818617" cy="135460"/>
            </a:xfrm>
            <a:custGeom>
              <a:rect b="b" l="l" r="r" t="t"/>
              <a:pathLst>
                <a:path extrusionOk="0" h="135460" w="4818617">
                  <a:moveTo>
                    <a:pt x="0" y="0"/>
                  </a:moveTo>
                  <a:lnTo>
                    <a:pt x="4818617" y="0"/>
                  </a:lnTo>
                  <a:lnTo>
                    <a:pt x="4818617" y="135460"/>
                  </a:lnTo>
                  <a:lnTo>
                    <a:pt x="0" y="135460"/>
                  </a:lnTo>
                  <a:close/>
                </a:path>
              </a:pathLst>
            </a:custGeom>
            <a:solidFill>
              <a:srgbClr val="731013"/>
            </a:solidFill>
            <a:ln>
              <a:noFill/>
            </a:ln>
          </p:spPr>
        </p:sp>
        <p:sp>
          <p:nvSpPr>
            <p:cNvPr id="2668" name="Google Shape;2668;p148"/>
            <p:cNvSpPr txBox="1"/>
            <p:nvPr/>
          </p:nvSpPr>
          <p:spPr>
            <a:xfrm>
              <a:off x="0" y="-38100"/>
              <a:ext cx="48186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9" name="title"/>
          <p:cNvSpPr txBox="1"/>
          <p:nvPr/>
        </p:nvSpPr>
        <p:spPr>
          <a:xfrm>
            <a:off x="822960" y="603504"/>
            <a:ext cx="7498079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31114"/>
                </a:solidFill>
                <a:latin typeface="Lexend SemiBold"/>
              </a:rPr>
              <a:t>Results: Fade vs full attention and StreamingLLM</a:t>
            </a:r>
          </a:p>
        </p:txBody>
      </p:sp>
      <p:pic>
        <p:nvPicPr>
          <p:cNvPr id="2670" name="figure" descr="Math accuracy vs memory per sample for full attention, Fade at 2 and 4 bits, and prompt-kept windows of 2K, 4K and 8K tokens, and StreamingLLM-8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188720"/>
            <a:ext cx="4297680" cy="3063240"/>
          </a:xfrm>
          <a:prstGeom prst="rect">
            <a:avLst/>
          </a:prstGeom>
        </p:spPr>
      </p:pic>
      <p:sp>
        <p:nvSpPr>
          <p:cNvPr id="2671" name="Setup card"/>
          <p:cNvSpPr/>
          <p:nvPr/>
        </p:nvSpPr>
        <p:spPr>
          <a:xfrm>
            <a:off x="4773168" y="1170432"/>
            <a:ext cx="4005072" cy="1892808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6350">
            <a:solidFill>
              <a:srgbClr val="78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2" name="Setup title"/>
          <p:cNvSpPr txBox="1"/>
          <p:nvPr/>
        </p:nvSpPr>
        <p:spPr>
          <a:xfrm>
            <a:off x="4901183" y="1225296"/>
            <a:ext cx="374903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8141B"/>
                </a:solidFill>
                <a:latin typeface="Lexend SemiBold"/>
              </a:rPr>
              <a:t>Setup</a:t>
            </a:r>
          </a:p>
        </p:txBody>
      </p:sp>
      <p:sp>
        <p:nvSpPr>
          <p:cNvPr id="2673" name="Setup row 1 label"/>
          <p:cNvSpPr txBox="1"/>
          <p:nvPr/>
        </p:nvSpPr>
        <p:spPr>
          <a:xfrm>
            <a:off x="4901183" y="1536192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Model</a:t>
            </a:r>
          </a:p>
        </p:txBody>
      </p:sp>
      <p:sp>
        <p:nvSpPr>
          <p:cNvPr id="2674" name="Setup row 1 value"/>
          <p:cNvSpPr txBox="1"/>
          <p:nvPr/>
        </p:nvSpPr>
        <p:spPr>
          <a:xfrm>
            <a:off x="5797296" y="1536192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Qwen3.5-9B (hybrid)</a:t>
            </a:r>
          </a:p>
        </p:txBody>
      </p:sp>
      <p:sp>
        <p:nvSpPr>
          <p:cNvPr id="2675" name="Setup row 2 label"/>
          <p:cNvSpPr txBox="1"/>
          <p:nvPr/>
        </p:nvSpPr>
        <p:spPr>
          <a:xfrm>
            <a:off x="4901183" y="1778508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Data</a:t>
            </a:r>
          </a:p>
        </p:txBody>
      </p:sp>
      <p:sp>
        <p:nvSpPr>
          <p:cNvPr id="2676" name="Setup row 2 value"/>
          <p:cNvSpPr txBox="1"/>
          <p:nvPr/>
        </p:nvSpPr>
        <p:spPr>
          <a:xfrm>
            <a:off x="5797296" y="1778508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AIME 2025 · AIME 2026 · HMMT 2025</a:t>
            </a:r>
          </a:p>
        </p:txBody>
      </p:sp>
      <p:sp>
        <p:nvSpPr>
          <p:cNvPr id="2677" name="Setup row 3 label"/>
          <p:cNvSpPr txBox="1"/>
          <p:nvPr/>
        </p:nvSpPr>
        <p:spPr>
          <a:xfrm>
            <a:off x="4901183" y="2020824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/>
            </a:r>
          </a:p>
        </p:txBody>
      </p:sp>
      <p:sp>
        <p:nvSpPr>
          <p:cNvPr id="2678" name="Setup row 3 value"/>
          <p:cNvSpPr txBox="1"/>
          <p:nvPr/>
        </p:nvSpPr>
        <p:spPr>
          <a:xfrm>
            <a:off x="5797296" y="2020824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MATH-500 level 5 · 30 each, 120 total</a:t>
            </a:r>
          </a:p>
        </p:txBody>
      </p:sp>
      <p:sp>
        <p:nvSpPr>
          <p:cNvPr id="2679" name="Setup row 4 label"/>
          <p:cNvSpPr txBox="1"/>
          <p:nvPr/>
        </p:nvSpPr>
        <p:spPr>
          <a:xfrm>
            <a:off x="4901183" y="2263140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Decode</a:t>
            </a:r>
          </a:p>
        </p:txBody>
      </p:sp>
      <p:sp>
        <p:nvSpPr>
          <p:cNvPr id="2680" name="Setup row 4 value"/>
          <p:cNvSpPr txBox="1"/>
          <p:nvPr/>
        </p:nvSpPr>
        <p:spPr>
          <a:xfrm>
            <a:off x="5797296" y="2263140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32K cap · 4 samples (StreamingLLM: 2)</a:t>
            </a:r>
          </a:p>
        </p:txBody>
      </p:sp>
      <p:sp>
        <p:nvSpPr>
          <p:cNvPr id="2681" name="Setup row 5 label"/>
          <p:cNvSpPr txBox="1"/>
          <p:nvPr/>
        </p:nvSpPr>
        <p:spPr>
          <a:xfrm>
            <a:off x="4901183" y="2505456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Compare</a:t>
            </a:r>
          </a:p>
        </p:txBody>
      </p:sp>
      <p:sp>
        <p:nvSpPr>
          <p:cNvPr id="2682" name="Setup row 5 value"/>
          <p:cNvSpPr txBox="1"/>
          <p:nvPr/>
        </p:nvSpPr>
        <p:spPr>
          <a:xfrm>
            <a:off x="5797296" y="2505456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full attention · windows · StreamingLLM</a:t>
            </a:r>
          </a:p>
        </p:txBody>
      </p:sp>
      <p:sp>
        <p:nvSpPr>
          <p:cNvPr id="2683" name="Setup row 6 label"/>
          <p:cNvSpPr txBox="1"/>
          <p:nvPr/>
        </p:nvSpPr>
        <p:spPr>
          <a:xfrm>
            <a:off x="4901183" y="2747772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Analysis</a:t>
            </a:r>
          </a:p>
        </p:txBody>
      </p:sp>
      <p:sp>
        <p:nvSpPr>
          <p:cNvPr id="2684" name="Setup row 6 value"/>
          <p:cNvSpPr txBox="1"/>
          <p:nvPr/>
        </p:nvSpPr>
        <p:spPr>
          <a:xfrm>
            <a:off x="5797296" y="2747772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pre-registered · memory checked on A100</a:t>
            </a:r>
          </a:p>
        </p:txBody>
      </p:sp>
      <p:sp>
        <p:nvSpPr>
          <p:cNvPr id="2685" name="Future work card"/>
          <p:cNvSpPr/>
          <p:nvPr/>
        </p:nvSpPr>
        <p:spPr>
          <a:xfrm>
            <a:off x="4773168" y="3154680"/>
            <a:ext cx="4005072" cy="116586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 w="6350">
            <a:solidFill>
              <a:srgbClr val="7814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6" name="Future work title"/>
          <p:cNvSpPr txBox="1"/>
          <p:nvPr/>
        </p:nvSpPr>
        <p:spPr>
          <a:xfrm>
            <a:off x="4901183" y="3209544"/>
            <a:ext cx="3749039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8141B"/>
                </a:solidFill>
                <a:latin typeface="Lexend SemiBold"/>
              </a:rPr>
              <a:t>Future work</a:t>
            </a:r>
          </a:p>
        </p:txBody>
      </p:sp>
      <p:sp>
        <p:nvSpPr>
          <p:cNvPr id="2687" name="Future work row 1 label"/>
          <p:cNvSpPr txBox="1"/>
          <p:nvPr/>
        </p:nvSpPr>
        <p:spPr>
          <a:xfrm>
            <a:off x="4901183" y="3520440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Systems</a:t>
            </a:r>
          </a:p>
        </p:txBody>
      </p:sp>
      <p:sp>
        <p:nvSpPr>
          <p:cNvPr id="2688" name="Future work row 1 value"/>
          <p:cNvSpPr txBox="1"/>
          <p:nvPr/>
        </p:nvSpPr>
        <p:spPr>
          <a:xfrm>
            <a:off x="5797296" y="3520440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fused low-bit kernel for speed</a:t>
            </a:r>
          </a:p>
        </p:txBody>
      </p:sp>
      <p:sp>
        <p:nvSpPr>
          <p:cNvPr id="2689" name="Future work row 2 label"/>
          <p:cNvSpPr txBox="1"/>
          <p:nvPr/>
        </p:nvSpPr>
        <p:spPr>
          <a:xfrm>
            <a:off x="4901183" y="3762756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Training</a:t>
            </a:r>
          </a:p>
        </p:txBody>
      </p:sp>
      <p:sp>
        <p:nvSpPr>
          <p:cNvPr id="2690" name="Future work row 2 value"/>
          <p:cNvSpPr txBox="1"/>
          <p:nvPr/>
        </p:nvSpPr>
        <p:spPr>
          <a:xfrm>
            <a:off x="5797296" y="3762756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QAT / distillation for 2 and 1 bit</a:t>
            </a:r>
          </a:p>
        </p:txBody>
      </p:sp>
      <p:sp>
        <p:nvSpPr>
          <p:cNvPr id="2691" name="Future work row 3 label"/>
          <p:cNvSpPr txBox="1"/>
          <p:nvPr/>
        </p:nvSpPr>
        <p:spPr>
          <a:xfrm>
            <a:off x="4901183" y="4005072"/>
            <a:ext cx="896112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8141B"/>
                </a:solidFill>
                <a:latin typeface="Lexend SemiBold"/>
              </a:rPr>
              <a:t>Scope</a:t>
            </a:r>
          </a:p>
        </p:txBody>
      </p:sp>
      <p:sp>
        <p:nvSpPr>
          <p:cNvPr id="2692" name="Future work row 3 value"/>
          <p:cNvSpPr txBox="1"/>
          <p:nvPr/>
        </p:nvSpPr>
        <p:spPr>
          <a:xfrm>
            <a:off x="5797296" y="4005072"/>
            <a:ext cx="2889504" cy="2423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1A1A"/>
                </a:solidFill>
                <a:latin typeface="Lexend"/>
              </a:rPr>
              <a:t>more baselines, hybrids and tasks</a:t>
            </a:r>
          </a:p>
        </p:txBody>
      </p:sp>
      <p:sp>
        <p:nvSpPr>
          <p:cNvPr id="2693" name="key finding"/>
          <p:cNvSpPr txBox="1"/>
          <p:nvPr/>
        </p:nvSpPr>
        <p:spPr>
          <a:xfrm>
            <a:off x="365760" y="4462272"/>
            <a:ext cx="8412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8141B"/>
                </a:solidFill>
                <a:latin typeface="Lexend SemiBold"/>
              </a:rPr>
              <a:t>A hybrid's attention can't forget its old thoughts, but it can blur them</a:t>
            </a:r>
            <a:r>
              <a:rPr sz="1000" b="0" i="0">
                <a:solidFill>
                  <a:srgbClr val="5F5F5F"/>
                </a:solidFill>
                <a:latin typeface="Lexend"/>
              </a:rPr>
              <a:t> (one model, math).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